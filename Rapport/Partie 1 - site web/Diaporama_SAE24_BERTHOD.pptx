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54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QUE JE DIS (~1 min) :
"Bonjour, je m'appelle Nathanaël Berthod, étudiant en BUT R&amp;T. Je vais vous présenter ma SAÉ 24 — Art Mathématique.
L'objectif était d'installer un serveur Apache, d'y déployer un site Symfony existant, puis de le modifier selon 4 étapes : analyser le code existant, adapter le site en ajoutant une nouvelle figure, améliorer l'interface, et sécuriser l'accès par mot de passe."
APPUI : pointez les 4 cartes en les nommant.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QUE JE DIS (~2 min) :
LE FLUX :
"Le site suit l'architecture MVC. La Vue c'est le fichier Twig — le formulaire HTML. Le Contrôleur c'est ArtmathController.php — c'est lui qui décide quoi faire. Et le Traitement, ce sont les scripts Python."
LES 3 DÉCOUVERTES (une par keyline) :
① "Python est appelé via le composant Process — c'est lui qu'on voit sur le schéma. C'est plus sécurisé que exec() : il évite les injections de commandes."
② "Les paramètres du formulaire arrivent via l'objet Request. Le name du champ HTML doit correspondre exactement au nom passé à get() — c'est le lien direct entre la Vue et le Contrôleur."
③ "Python retourne juste le nom du fichier image avec print(). PHP le lit avec getOutput() et le passe à la Vue pour afficher l'image."
LE CODE :
"Voilà concrètement à quoi ça ressemble : 3 lignes suffisent."
QUESTION POSSIBLE :
Q : Et le Modèle dans MVC ?
R : Pas de base de données ici, donc pas vraiment de Modèle. Les données transitent directement.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QUE JE DIS (~2 min 30) :
ADAPTER :
"J'ai suivi la même logique que pour Koch.
① Dans le formulaire Twig : 4 nouveaux champs. La seule règle : le name HTML doit correspondre exactement au paramètre attendu dans le contrôleur.
② Dans le contrôleur : le if devient if/elseif/else. Selon la figure choisie, le bon script Python est appelé avec les bons paramètres — le code est là sur la slide."
INITIATIVES :
"01 — J'ai écrit carre_alea.py de zéro avec matplotlib : grille 10×10, coins aléatoires, intégré exactement comme les deux autres figures.
02 — J'ai ajouté un seed : 0 = nouveau résultat à chaque fois, 42 = toujours la même image. Ça utilise random.Random(seed) de Python."
APPUI : le code est lisible sur la slide — suivez les branches si vous avez un trou.
Q : Comment savais-tu dans quel ordre passer les arguments à Python ?
R : En lisant le script — il lit sys.argv[1], sys.argv[2] dans l'ordre.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QUE JE DIS (~2 min 30) :
AMÉLIORER (les 4 cartes) :
"J'ai amélioré l'ergonomie en 4 points.
① La mémorisation : l'opérateur ?? de Twig réaffiche la dernière valeur saisie — l'utilisateur ne ressaisit rien.
② Le menu : une fonction JS afficherParams() masque les champs qui ne correspondent pas à la figure choisie.
③ L'interface CSS : cartes, sliders dont la valeur s'affiche en temps réel.
④ La saisie bornée : min/max/step empêchent les valeurs aberrantes, et l'image n'est montrée que si un calcul a réussi."
SÉCURISER (suivez les 3 keylines) :
"① AllowOverride All dans le VirtualHost — sans ça, le .htaccess est ignoré silencieusement. C'est le bug qui m'a pris le plus de temps.
② La commande htpasswd crée le .htpasswd avec le mot de passe haché.
③ Le .htaccess dans public/ suffit : 4 directives, le navigateur affiche une fenêtre de connexion."
ENCADRÉ JAUNE :
"Je suis conscient de la limite : Basic Auth encode en base64, ce n'est pas du chiffrement. Sans HTTPS, quelqu'un sur le réseau pourrait intercepter les identifiants. En production il faudrait TLS."
QUESTION POSSIBLE :
Q : Pourquoi AllowOverride All est-il risqué ?
R : Il permet à n'importe quel .htaccess de surcharger la config Apache. En prod on limiterait aux directives strictement nécessaires.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TO SAY IN ENGLISH (~2 min) :
"After reviewing my code, there are several things I would have liked to add.
01 — Securing the login: today the password is protected with HTTP Basic Auth, which only base64-encodes it, so over plain HTTP it could be intercepted. I would have served the site over HTTPS with an SSL/TLS certificate, so the password is encrypted in transit and never sent in clear.
02 — Instead of a single page with a dropdown, I would have given each figure its own URL — /artmath/koch, /artmath/nees, and so on. It would be much cleaner to navigate.
03 — More options: a colour picker, the ability to export as SVG or PDF, and maybe a step-by-step animation for the Koch snowflake.
04 — An image history stored in the session or a small database, so the user can go back to a figure they liked without re-entering all the parameters.
These are things I did not have time to implement, but they would have made the site a lot more complete. Thank you."
APPUI : lisez les flèches → sur les cartes si vous avez un blanc.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141A3C">
              <a:alpha val="60000"/>
            </a:srgb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778240" cy="2578608"/>
          </a:xfrm>
          <a:prstGeom prst="rect">
            <a:avLst/>
          </a:prstGeom>
          <a:solidFill>
            <a:srgbClr val="141A3C">
              <a:alpha val="8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3152" cy="2578608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646920" y="5029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646920" y="9601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646920" y="14173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0104120" y="5029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0104120" y="9601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10104120" y="14173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0561320" y="5029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0561320" y="9601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0561320" y="14173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1018520" y="5029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1018520" y="9601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1018520" y="14173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1475720" y="5029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1475720" y="9601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1475720" y="1417320"/>
            <a:ext cx="310896" cy="310896"/>
          </a:xfrm>
          <a:prstGeom prst="rect">
            <a:avLst/>
          </a:prstGeom>
          <a:ln w="12700">
            <a:solidFill>
              <a:srgbClr val="4A6CF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31520" y="16916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100" dirty="0">
                <a:solidFill>
                  <a:srgbClr val="AAB4E8"/>
                </a:solidFill>
              </a:rPr>
              <a:t>SAÉ 2.04 · </a:t>
            </a:r>
            <a:r>
              <a:rPr lang="en-US" sz="1500" kern="0" spc="100" dirty="0" err="1">
                <a:solidFill>
                  <a:srgbClr val="AAB4E8"/>
                </a:solidFill>
              </a:rPr>
              <a:t>Projet</a:t>
            </a:r>
            <a:r>
              <a:rPr lang="en-US" sz="1500" kern="0" spc="100" dirty="0">
                <a:solidFill>
                  <a:srgbClr val="AAB4E8"/>
                </a:solidFill>
              </a:rPr>
              <a:t> </a:t>
            </a:r>
            <a:r>
              <a:rPr lang="en-US" sz="1500" kern="0" spc="100">
                <a:solidFill>
                  <a:srgbClr val="AAB4E8"/>
                </a:solidFill>
              </a:rPr>
              <a:t>intégratif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" y="2103120"/>
            <a:ext cx="84144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kern="0" spc="100" dirty="0">
                <a:solidFill>
                  <a:srgbClr val="AAB4E8"/>
                </a:solidFill>
              </a:rPr>
              <a:t>Installation et adaptation d'un </a:t>
            </a:r>
            <a:r>
              <a:rPr lang="en-US" sz="4000" kern="0" spc="100" dirty="0" err="1">
                <a:solidFill>
                  <a:srgbClr val="AAB4E8"/>
                </a:solidFill>
              </a:rPr>
              <a:t>serveur</a:t>
            </a:r>
            <a:r>
              <a:rPr lang="en-US" sz="4000" kern="0" spc="100" dirty="0">
                <a:solidFill>
                  <a:srgbClr val="AAB4E8"/>
                </a:solidFill>
              </a:rPr>
              <a:t> Web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31520" y="31546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EEF1FD"/>
                </a:solidFill>
              </a:rPr>
              <a:t>Site Symfony · Figures mathématiques · Scripts Python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49808" y="3749040"/>
            <a:ext cx="1828800" cy="45720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57200" y="4178808"/>
            <a:ext cx="2606040" cy="1417320"/>
          </a:xfrm>
          <a:prstGeom prst="rect">
            <a:avLst/>
          </a:prstGeom>
          <a:solidFill>
            <a:srgbClr val="1C2550"/>
          </a:solidFill>
          <a:ln w="12700">
            <a:solidFill>
              <a:srgbClr val="4A6CF7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57200" y="42656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CF7"/>
                </a:solidFill>
              </a:rPr>
              <a:t>01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55850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Analyser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49103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4E8"/>
                </a:solidFill>
              </a:rPr>
              <a:t>Comprendre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4E8"/>
                </a:solidFill>
              </a:rPr>
              <a:t>l'existant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66873" y="4184251"/>
            <a:ext cx="2606040" cy="1417320"/>
          </a:xfrm>
          <a:prstGeom prst="rect">
            <a:avLst/>
          </a:prstGeom>
          <a:solidFill>
            <a:srgbClr val="1C2550"/>
          </a:solidFill>
          <a:ln w="12700">
            <a:solidFill>
              <a:srgbClr val="4A6CF7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130950" y="42611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CF7"/>
                </a:solidFill>
              </a:rPr>
              <a:t>02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54680" y="4564815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Adapter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190603" y="490902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4E8"/>
                </a:solidFill>
              </a:rPr>
              <a:t>Ajouter 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4E8"/>
                </a:solidFill>
              </a:rPr>
              <a:t>Nees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76546" y="4184251"/>
            <a:ext cx="2606040" cy="1417320"/>
          </a:xfrm>
          <a:prstGeom prst="rect">
            <a:avLst/>
          </a:prstGeom>
          <a:solidFill>
            <a:srgbClr val="1C2550"/>
          </a:solidFill>
          <a:ln w="12700">
            <a:solidFill>
              <a:srgbClr val="4A6CF7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816893" y="42611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CF7"/>
                </a:solidFill>
              </a:rPr>
              <a:t>03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76546" y="45857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Améliorer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00276" y="49301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4E8"/>
                </a:solidFill>
              </a:rPr>
              <a:t>Interface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4E8"/>
                </a:solidFill>
              </a:rPr>
              <a:t>et UX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86219" y="4178590"/>
            <a:ext cx="2606040" cy="1417320"/>
          </a:xfrm>
          <a:prstGeom prst="rect">
            <a:avLst/>
          </a:prstGeom>
          <a:solidFill>
            <a:srgbClr val="1C2550"/>
          </a:solidFill>
          <a:ln w="12700">
            <a:solidFill>
              <a:srgbClr val="4A6CF7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8580995" y="426567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CF7"/>
                </a:solidFill>
              </a:rPr>
              <a:t>04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30199" y="45857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Sécuriser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95798" y="4892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4E8"/>
                </a:solidFill>
              </a:rPr>
              <a:t>Auth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4E8"/>
                </a:solidFill>
              </a:rPr>
              <a:t>.htaccess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59436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Nathanaël BERTHOD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AB4E8"/>
                </a:solidFill>
              </a:rPr>
              <a:t>BUT Réseaux &amp; Télécommunications — Juin 2026</a:t>
            </a:r>
            <a:endParaRPr lang="en-US"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11430000" y="6473952"/>
            <a:ext cx="6217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>
                <a:solidFill>
                  <a:srgbClr val="AAB4E8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55448" cy="155448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41248" y="36576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MVC · Étape 1 — Analyser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41248" y="102412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A6CF7"/>
                </a:solidFill>
              </a:rPr>
              <a:t>COMMENT SYMFONY DIALOGUE AVEC PYTHON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41248" y="1444752"/>
            <a:ext cx="2514600" cy="1371600"/>
          </a:xfrm>
          <a:prstGeom prst="rect">
            <a:avLst/>
          </a:prstGeom>
          <a:solidFill>
            <a:srgbClr val="EEF1FD"/>
          </a:solidFill>
          <a:ln w="12700">
            <a:solidFill>
              <a:srgbClr val="E2E6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41248" y="16459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3C"/>
                </a:solidFill>
              </a:rPr>
              <a:t>Formulaire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04825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</a:rPr>
              <a:t>Interface </a:t>
            </a:r>
            <a:r>
              <a:rPr lang="en-US" sz="1100" dirty="0" err="1">
                <a:solidFill>
                  <a:srgbClr val="5B6478"/>
                </a:solidFill>
              </a:rPr>
              <a:t>utilisateur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19272" y="1444752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6CF7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0" y="1444752"/>
            <a:ext cx="2514600" cy="1371600"/>
          </a:xfrm>
          <a:prstGeom prst="rect">
            <a:avLst/>
          </a:prstGeom>
          <a:solidFill>
            <a:srgbClr val="4A6CF7"/>
          </a:solidFill>
          <a:ln w="12700">
            <a:solidFill>
              <a:srgbClr val="4A6CF7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0" y="16459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Contrôleur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204825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E8FF"/>
                </a:solidFill>
              </a:rPr>
              <a:t>ArtmathController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3E8FF"/>
                </a:solidFill>
              </a:rPr>
              <a:t>.php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35624" y="1444752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6CF7"/>
                </a:solidFill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73952" y="1444752"/>
            <a:ext cx="2514600" cy="1371600"/>
          </a:xfrm>
          <a:prstGeom prst="rect">
            <a:avLst/>
          </a:prstGeom>
          <a:solidFill>
            <a:srgbClr val="EEF1FD"/>
          </a:solidFill>
          <a:ln w="12700">
            <a:solidFill>
              <a:srgbClr val="E2E6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473952" y="16459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3C"/>
                </a:solidFill>
              </a:rPr>
              <a:t>Script Python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65392" y="204825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</a:rPr>
              <a:t>koch.py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</a:rPr>
              <a:t>nees_carre.py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</a:rPr>
              <a:t>carre_alea.py</a:t>
            </a:r>
          </a:p>
          <a:p>
            <a:pPr marL="0" indent="0" algn="ctr">
              <a:buNone/>
            </a:pPr>
            <a:r>
              <a:rPr lang="en-US" sz="1100" dirty="0" err="1">
                <a:solidFill>
                  <a:srgbClr val="5B6478"/>
                </a:solidFill>
              </a:rPr>
              <a:t>Renvoie</a:t>
            </a:r>
            <a:r>
              <a:rPr lang="en-US" sz="1100" dirty="0">
                <a:solidFill>
                  <a:srgbClr val="5B6478"/>
                </a:solidFill>
              </a:rPr>
              <a:t> et affiche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51976" y="1444752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6CF7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290304" y="1444752"/>
            <a:ext cx="2514600" cy="1371600"/>
          </a:xfrm>
          <a:prstGeom prst="rect">
            <a:avLst/>
          </a:prstGeom>
          <a:solidFill>
            <a:srgbClr val="EEF1FD"/>
          </a:solidFill>
          <a:ln w="12700">
            <a:solidFill>
              <a:srgbClr val="E2E6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290304" y="16459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A3C"/>
                </a:solidFill>
              </a:rPr>
              <a:t>Image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81744" y="2048256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</a:rPr>
              <a:t>reponse.png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478"/>
                </a:solidFill>
              </a:rPr>
              <a:t>affiché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303580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A6CF7"/>
                </a:solidFill>
              </a:rPr>
              <a:t>CE QUE J'AI DÉCOUVERT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41248" y="3474720"/>
            <a:ext cx="91440" cy="256032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069848" y="3401568"/>
            <a:ext cx="3680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C"/>
                </a:solidFill>
              </a:rPr>
              <a:t>Où Python est appelé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750308" y="3401568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</a:rPr>
              <a:t>calculer()  →  new Process(['python3', 'script.py', $arg])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41248" y="3931920"/>
            <a:ext cx="91440" cy="256032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069848" y="3858768"/>
            <a:ext cx="3680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C"/>
                </a:solidFill>
              </a:rPr>
              <a:t>Comment les </a:t>
            </a:r>
            <a:r>
              <a:rPr lang="en-US" sz="1450" b="1" dirty="0" err="1">
                <a:solidFill>
                  <a:srgbClr val="141A3C"/>
                </a:solidFill>
              </a:rPr>
              <a:t>paramètres</a:t>
            </a:r>
            <a:r>
              <a:rPr lang="en-US" sz="1450" b="1" dirty="0">
                <a:solidFill>
                  <a:srgbClr val="141A3C"/>
                </a:solidFill>
              </a:rPr>
              <a:t> arrivent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750308" y="3858768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</a:rPr>
              <a:t>name HTML  =  $request-&gt;get('name')  (correspondance exacte)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41248" y="4389120"/>
            <a:ext cx="91440" cy="256032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069848" y="4315968"/>
            <a:ext cx="3680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C"/>
                </a:solidFill>
              </a:rPr>
              <a:t>Ce que Python retourne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750308" y="4315968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</a:rPr>
              <a:t>print(fichier)  →  getOutput()  →  transmis à la Vue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41248" y="4892040"/>
            <a:ext cx="10479024" cy="1234440"/>
          </a:xfrm>
          <a:prstGeom prst="rect">
            <a:avLst/>
          </a:prstGeom>
          <a:solidFill>
            <a:srgbClr val="0E1330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042416" y="5020056"/>
            <a:ext cx="100766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7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$process = new Process(['python3', 'koch.py', $dimension]);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7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$process-&gt;run();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7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$fichier = trim($process-&gt;getOutput());</a:t>
            </a:r>
            <a:endParaRPr lang="en-US" sz="1300" dirty="0"/>
          </a:p>
        </p:txBody>
      </p:sp>
      <p:sp>
        <p:nvSpPr>
          <p:cNvPr id="32" name="TextBox 31"/>
          <p:cNvSpPr txBox="1"/>
          <p:nvPr/>
        </p:nvSpPr>
        <p:spPr>
          <a:xfrm>
            <a:off x="11430000" y="6473952"/>
            <a:ext cx="6217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>
                <a:solidFill>
                  <a:srgbClr val="5B647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_formula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13" y="1109485"/>
            <a:ext cx="7601495" cy="5442625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210E1B4-8484-89EA-2DBC-D31659F8C13D}"/>
              </a:ext>
            </a:extLst>
          </p:cNvPr>
          <p:cNvSpPr/>
          <p:nvPr/>
        </p:nvSpPr>
        <p:spPr>
          <a:xfrm>
            <a:off x="886097" y="644652"/>
            <a:ext cx="155448" cy="155448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C0F96F9-062E-286B-4E07-C8EB873B9F01}"/>
              </a:ext>
            </a:extLst>
          </p:cNvPr>
          <p:cNvSpPr txBox="1"/>
          <p:nvPr/>
        </p:nvSpPr>
        <p:spPr>
          <a:xfrm>
            <a:off x="1137557" y="45998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</a:t>
            </a:r>
            <a:r>
              <a:rPr lang="en-US" sz="2800" b="1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Adapter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6217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>
                <a:solidFill>
                  <a:srgbClr val="5B6478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55448" cy="155448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41248" y="36576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4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Améliorer · Étape 4 — Sécuriser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41248" y="10972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A6CF7"/>
                </a:solidFill>
              </a:rPr>
              <a:t>AMÉLIORER — ERGONOMIE DE L'INTERFACE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41248" y="1463040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841248" y="1463040"/>
            <a:ext cx="2651760" cy="347472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50976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14996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??  Mémorisation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874520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</a:rPr>
              <a:t>Chaque champ réaffiche la dernière valeur saisie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75888" y="1463040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75888" y="1463040"/>
            <a:ext cx="2651760" cy="347472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785616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96512" y="14996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JS  Menu figures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13048" y="1874520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</a:rPr>
              <a:t>afficherParams() → seuls les bons champs sont visibles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10528" y="1463040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510528" y="1463040"/>
            <a:ext cx="2651760" cy="347472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620256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1152" y="14996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CSS  Interface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47688" y="1874520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</a:rPr>
              <a:t>Cartes · sliders dynamiques · valeur en temps réel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45168" y="1463040"/>
            <a:ext cx="26517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9345168" y="1463040"/>
            <a:ext cx="2651760" cy="347472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9454896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65792" y="149961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HTML  Saisie bornée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82328" y="1874520"/>
            <a:ext cx="23957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</a:rPr>
              <a:t>min / max / step  +  {% if fichier %} pour l'image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2907792"/>
            <a:ext cx="11430000" cy="36576"/>
          </a:xfrm>
          <a:prstGeom prst="rect">
            <a:avLst/>
          </a:prstGeom>
          <a:solidFill>
            <a:srgbClr val="E2E6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841248" y="30632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4A6CF7"/>
                </a:solidFill>
              </a:rPr>
              <a:t>SÉCURISER — AUTHENTIFICATION HTTP BASIC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1248" y="3502152"/>
            <a:ext cx="91440" cy="256032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069848" y="3429000"/>
            <a:ext cx="18242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C"/>
                </a:solidFill>
              </a:rPr>
              <a:t>① AllowOverride All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2894076" y="3429000"/>
            <a:ext cx="3231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</a:rPr>
              <a:t>dans le VirtualHost → autorise .htaccess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41248" y="3913632"/>
            <a:ext cx="91440" cy="256032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069848" y="3840480"/>
            <a:ext cx="18242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C"/>
                </a:solidFill>
              </a:rPr>
              <a:t>② htpasswd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2894076" y="3840480"/>
            <a:ext cx="3231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</a:rPr>
              <a:t>crée .htpasswd · mot de passe haché (pas en clair)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41248" y="4325112"/>
            <a:ext cx="91440" cy="256032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069848" y="4251960"/>
            <a:ext cx="18242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A3C"/>
                </a:solidFill>
              </a:rPr>
              <a:t>③ .htaccess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2894076" y="4251960"/>
            <a:ext cx="32314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</a:rPr>
              <a:t>dans public/  →  4 directives  →  fenêtre de connexion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41248" y="4754880"/>
            <a:ext cx="5029200" cy="1508760"/>
          </a:xfrm>
          <a:prstGeom prst="rect">
            <a:avLst/>
          </a:prstGeom>
          <a:solidFill>
            <a:srgbClr val="0E1330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1042416" y="4882896"/>
            <a:ext cx="462686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7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AuthType Basic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7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AuthName "Accès réservé"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7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AuthUserFile /chemin/.htpasswd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7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 valid-user</a:t>
            </a:r>
            <a:endParaRPr lang="en-US" sz="1300" dirty="0"/>
          </a:p>
        </p:txBody>
      </p:sp>
      <p:sp>
        <p:nvSpPr>
          <p:cNvPr id="38" name="Rectangle 37"/>
          <p:cNvSpPr/>
          <p:nvPr/>
        </p:nvSpPr>
        <p:spPr>
          <a:xfrm>
            <a:off x="6080760" y="3310128"/>
            <a:ext cx="5852160" cy="1417320"/>
          </a:xfrm>
          <a:prstGeom prst="rect">
            <a:avLst/>
          </a:prstGeom>
          <a:solidFill>
            <a:srgbClr val="141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81928" y="3419856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4A6CF7"/>
                </a:solidFill>
                <a:latin typeface="Calibri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343814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carre_alea.py — écrit de zéro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1928" y="3968496"/>
            <a:ext cx="73152" cy="237744"/>
          </a:xfrm>
          <a:prstGeom prst="rect">
            <a:avLst/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83096" y="3913632"/>
            <a:ext cx="18529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matplotlib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6036" y="3913632"/>
            <a:ext cx="343338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AAB4E8"/>
                </a:solidFill>
                <a:latin typeface="Calibri"/>
              </a:rPr>
              <a:t>génération d'image côté serveur (mode Agg)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81928" y="4352544"/>
            <a:ext cx="73152" cy="237744"/>
          </a:xfrm>
          <a:prstGeom prst="rect">
            <a:avLst/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83096" y="4297680"/>
            <a:ext cx="18529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grille 10×10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6036" y="4297680"/>
            <a:ext cx="343338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AAB4E8"/>
                </a:solidFill>
                <a:latin typeface="Calibri"/>
              </a:rPr>
              <a:t>100 carrés · coins placés aléatoirement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4818888"/>
            <a:ext cx="585216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4A6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81928" y="4910327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4A6CF7"/>
                </a:solidFill>
                <a:latin typeface="Calibri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4928616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141A3C"/>
                </a:solidFill>
                <a:latin typeface="Calibri"/>
              </a:rPr>
              <a:t>Graine reproductible (seed)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81928" y="5422391"/>
            <a:ext cx="73152" cy="237744"/>
          </a:xfrm>
          <a:prstGeom prst="rect">
            <a:avLst/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83096" y="5367527"/>
            <a:ext cx="18529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3C"/>
                </a:solidFill>
                <a:latin typeface="Calibri"/>
              </a:rPr>
              <a:t>seed = 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6036" y="5367527"/>
            <a:ext cx="343338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5B6478"/>
                </a:solidFill>
                <a:latin typeface="Calibri"/>
              </a:rPr>
              <a:t>résultat différent à chaque calcul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81928" y="5788151"/>
            <a:ext cx="73152" cy="237744"/>
          </a:xfrm>
          <a:prstGeom prst="rect">
            <a:avLst/>
          </a:prstGeom>
          <a:solidFill>
            <a:srgbClr val="4A6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83096" y="5733288"/>
            <a:ext cx="18529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41A3C"/>
                </a:solidFill>
                <a:latin typeface="Calibri"/>
              </a:rPr>
              <a:t>seed = 42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36036" y="5733288"/>
            <a:ext cx="3433389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5B6478"/>
                </a:solidFill>
                <a:latin typeface="Calibri"/>
              </a:rPr>
              <a:t>exactement la même image à chaque fois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64808" y="609904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B6478"/>
                </a:solidFill>
                <a:latin typeface="Calibri"/>
              </a:rPr>
              <a:t>random.Random(seed) en Python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6473952"/>
            <a:ext cx="6217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>
                <a:solidFill>
                  <a:srgbClr val="5B6478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347472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8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IN ENGLISH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55448" cy="155448"/>
          </a:xfrm>
          <a:prstGeom prst="rect">
            <a:avLst/>
          </a:prstGeom>
          <a:solidFill>
            <a:srgbClr val="4A6C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41248" y="365760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 — what I would have added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841248" y="1143000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EF1FD"/>
                </a:solidFill>
              </a:rPr>
              <a:t>After reviewing my code, here are the improvements I would have liked to make.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1719072"/>
            <a:ext cx="5394960" cy="1993392"/>
          </a:xfrm>
          <a:prstGeom prst="rect">
            <a:avLst/>
          </a:prstGeom>
          <a:solidFill>
            <a:srgbClr val="1C2550"/>
          </a:solidFill>
          <a:ln w="12700">
            <a:solidFill>
              <a:srgbClr val="4A6CF7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097280" y="186537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6CF7"/>
                </a:solidFill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84248" y="1883664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Secure login over HTTPS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97280" y="2496312"/>
            <a:ext cx="4882896" cy="27432"/>
          </a:xfrm>
          <a:prstGeom prst="rect">
            <a:avLst/>
          </a:prstGeom>
          <a:solidFill>
            <a:srgbClr val="2D3A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97280" y="261518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1FD"/>
                </a:solidFill>
              </a:rPr>
              <a:t>→  encrypt the traffic with SSL / TLS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3035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4E8"/>
                </a:solidFill>
              </a:rPr>
              <a:t>→  the password is no longer sent in clear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56248" y="1719072"/>
            <a:ext cx="5394960" cy="1993392"/>
          </a:xfrm>
          <a:prstGeom prst="rect">
            <a:avLst/>
          </a:prstGeom>
          <a:solidFill>
            <a:srgbClr val="1C2550"/>
          </a:solidFill>
          <a:ln w="12700">
            <a:solidFill>
              <a:srgbClr val="4A6CF7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812280" y="186537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6CF7"/>
                </a:solidFill>
              </a:rPr>
              <a:t>02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699248" y="1883664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One page per figure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12280" y="2496312"/>
            <a:ext cx="4882896" cy="27432"/>
          </a:xfrm>
          <a:prstGeom prst="rect">
            <a:avLst/>
          </a:prstGeom>
          <a:solidFill>
            <a:srgbClr val="2D3A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12280" y="261518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1FD"/>
                </a:solidFill>
              </a:rPr>
              <a:t>→  /artmath/koch  ·  /artmath/nees  ·  etc.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12280" y="30358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4E8"/>
                </a:solidFill>
              </a:rPr>
              <a:t>→  cleaner than a dropdown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" y="3968496"/>
            <a:ext cx="5394960" cy="1993392"/>
          </a:xfrm>
          <a:prstGeom prst="rect">
            <a:avLst/>
          </a:prstGeom>
          <a:solidFill>
            <a:srgbClr val="1C2550"/>
          </a:solidFill>
          <a:ln w="12700">
            <a:solidFill>
              <a:srgbClr val="4A6CF7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097280" y="411480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6CF7"/>
                </a:solidFill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984248" y="4133088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More options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097280" y="4745736"/>
            <a:ext cx="4882896" cy="27432"/>
          </a:xfrm>
          <a:prstGeom prst="rect">
            <a:avLst/>
          </a:prstGeom>
          <a:solidFill>
            <a:srgbClr val="2D3A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097280" y="48646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1FD"/>
                </a:solidFill>
              </a:rPr>
              <a:t>→  colour picker  ·  export SVG / PDF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97280" y="52852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4E8"/>
                </a:solidFill>
              </a:rPr>
              <a:t>→  step-by-step Koch animation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56248" y="3968496"/>
            <a:ext cx="5394960" cy="1993392"/>
          </a:xfrm>
          <a:prstGeom prst="rect">
            <a:avLst/>
          </a:prstGeom>
          <a:solidFill>
            <a:srgbClr val="1C2550"/>
          </a:solidFill>
          <a:ln w="12700">
            <a:solidFill>
              <a:srgbClr val="4A6CF7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812280" y="411480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6CF7"/>
                </a:solidFill>
              </a:rPr>
              <a:t>04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699248" y="4133088"/>
            <a:ext cx="4069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Image history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812280" y="4745736"/>
            <a:ext cx="4882896" cy="27432"/>
          </a:xfrm>
          <a:prstGeom prst="rect">
            <a:avLst/>
          </a:prstGeom>
          <a:solidFill>
            <a:srgbClr val="2D3A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812280" y="48646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F1FD"/>
                </a:solidFill>
              </a:rPr>
              <a:t>→  store images in session or DB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812280" y="52852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4E8"/>
                </a:solidFill>
              </a:rPr>
              <a:t>→  go back to a figure you liked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1248" y="64008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EEF1FD"/>
                </a:solidFill>
              </a:rPr>
              <a:t>Thank you for your attention.</a:t>
            </a:r>
            <a:endParaRPr lang="en-US" sz="1700" dirty="0"/>
          </a:p>
        </p:txBody>
      </p:sp>
      <p:sp>
        <p:nvSpPr>
          <p:cNvPr id="32" name="TextBox 31"/>
          <p:cNvSpPr txBox="1"/>
          <p:nvPr/>
        </p:nvSpPr>
        <p:spPr>
          <a:xfrm>
            <a:off x="11430000" y="6473952"/>
            <a:ext cx="621792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100">
                <a:solidFill>
                  <a:srgbClr val="AAB4E8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1548</Words>
  <Application>Microsoft Office PowerPoint</Application>
  <PresentationFormat>Grand écran</PresentationFormat>
  <Paragraphs>123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SAÉ 24 — Art Mathématique</dc:title>
  <dc:subject>PptxGenJS Presentation</dc:subject>
  <dc:creator>Nathanaël BERTHOD</dc:creator>
  <cp:lastModifiedBy>NATHANAEL BERTHOD</cp:lastModifiedBy>
  <cp:revision>8</cp:revision>
  <dcterms:created xsi:type="dcterms:W3CDTF">2026-06-17T17:57:22Z</dcterms:created>
  <dcterms:modified xsi:type="dcterms:W3CDTF">2026-06-18T05:40:57Z</dcterms:modified>
</cp:coreProperties>
</file>